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516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2416492"/>
            <a:ext cx="29337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947987"/>
            <a:ext cx="116014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sz="4500" b="1" i="0" u="none">
                <a:solidFill>
                  <a:srgbClr val="0F172A"/>
                </a:solidFill>
                <a:latin typeface="Plus Jakarta Sans"/>
              </a:rPr>
              <a:t>US Unemployment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48087"/>
            <a:ext cx="11049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Exploring decade-long labor trends, seasonal fluctuations, demographic disparities, and the early economic impact of COVID-19.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" y="2514598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0725" y="2904232"/>
            <a:ext cx="439054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85282"/>
            <a:ext cx="7143750" cy="64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A comprehensive exploratory data analysis of United States unemployment rates from 2010 through early 2020.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3289"/>
            <a:ext cx="5334000" cy="2565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03289"/>
            <a:ext cx="5334000" cy="25657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817614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3274814"/>
            <a:ext cx="49406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lus Jakarta Sans SemiBold"/>
              </a:rPr>
              <a:t>Core Project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36764"/>
            <a:ext cx="47053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Analyze micro and macroeconomic shifts in US employment across national demographic divisions (education, race, gender) and geographical state lines using multi-sourced historical datasets.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817614"/>
            <a:ext cx="2286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0825" y="3274814"/>
            <a:ext cx="49406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lus Jakarta Sans SemiBold"/>
              </a:rPr>
              <a:t>Primary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636764"/>
            <a:ext cx="47053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Identify long-term economic recovery indicators post-2010, quantify historical seasonality patterns, and evaluate early labor vulnerabilities right as the pandemic hit in early 2020.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Project Concept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076"/>
            <a:ext cx="3530649" cy="244822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62076"/>
            <a:ext cx="3530649" cy="244822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62076"/>
            <a:ext cx="3530649" cy="24482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838301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505051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Python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67001"/>
            <a:ext cx="29781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Primary analytical runtime for data parsing, structured processing, and statistical aggregation.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838301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505051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Pandas &amp;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67001"/>
            <a:ext cx="29781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Used for dataset merging, datetime standardization, missing value handling, and grouping pivots.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838301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505051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Matplotlib &amp; Seaborn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67001"/>
            <a:ext cx="29781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Used to craft visual analytics, including multi-line trends, bar charts, and distribution plots.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962126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962126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761" y="2962126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Technology Stack &amp;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4312"/>
            <a:ext cx="2541240" cy="1013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28267"/>
            <a:ext cx="2541240" cy="12197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24312"/>
            <a:ext cx="2541240" cy="12197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28267"/>
            <a:ext cx="2541240" cy="12197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671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186237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1. Data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462462"/>
            <a:ext cx="221739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Ingested national and state datasets covering 2010 to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490192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2.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766417"/>
            <a:ext cx="22173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Standardized date formats, deduplicated rows, and handled null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186237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3. Trend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462462"/>
            <a:ext cx="22173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Evaluated historical rates across race, education, gender, and season.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490192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4. COVID Shock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766417"/>
            <a:ext cx="22173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Quantified initial Jan-Mar 2020 shifts across states and demographics.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Methodology &amp; Execution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46870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2790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8709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4629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1889"/>
            <a:ext cx="5334000" cy="21085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31889"/>
            <a:ext cx="5334000" cy="2108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46214"/>
            <a:ext cx="49406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lus Jakarta Sans SemiBold"/>
              </a:rPr>
              <a:t>1. Pandemic Data Truncation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08164"/>
            <a:ext cx="47053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national demographic tracking stopped reporting from April 2020 onward right as COVID-19 hit full force. Analysis of demographic pandemic impact had to rely strictly on early signs (Jan-Mar 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046214"/>
            <a:ext cx="49406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lus Jakarta Sans SemiBold"/>
              </a:rPr>
              <a:t>2. Missing Values &amp; Imputation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08164"/>
            <a:ext cx="47053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State data contained missing entries (e.g., Puerto Rico March 2020). Rather than dropping territory rows, state-specific mean imputation was executed to preserve geographic completeness.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Technical Challenges &amp; Limitations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75572" y="2904232"/>
            <a:ext cx="684085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Results &amp; Empirical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85282"/>
            <a:ext cx="7143750" cy="64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Key visual findings derived from long-term economic data and state-by-state comparisons.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5937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4000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938337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Persistent Gap: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Individuals with Primary School education maintained significantly higher unemployment rates (~15% in 2010 to ~6% in 2020) than degree holders.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8327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81610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Steady Recovery: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Across all educational brackets, unemployment steadily declined from 2010 to 2019 following the post-2008 economic recovery.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2654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824882"/>
            <a:ext cx="4953000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Early Uptick: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 sharp upward hook is visible across all tiers in Q1 2020 as early pandemic disruptions began.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Long-Term Trend by Education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BF649E-D1C4-2221-0E7C-AD2B9B6B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4" y="1785937"/>
            <a:ext cx="5324475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5937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4000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938337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Primary School Group Hardest Hit: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Increased by nearly 0.4 percentage points within Q1 2020 compared to the 2019 average.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8327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81610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Racial Disparity: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Hispanic and High School educated workers experienced the next largest initial jumps in unemployment 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2654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824882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Professional Degrees Resilient: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Professional degree holders and higher education brackets showed minimal or delayed job loss impact in early 2020.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Initial COVID-19 Demographic Shift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E58DD8-BCC7-3C5D-9844-8442558DA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85937"/>
            <a:ext cx="5324475" cy="4000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5937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4000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938337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Nevada Outlier (+2.7%):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Nevada experienced the steepest unemployment rise from Jan to Mar 2020 due to instant hospitality and tourism shutdowns.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8327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81610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Top Impacted States: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Colorado (+2.0%), Florida (+1.5%), Kentucky (+1.5%), and Rhode Island (+1.5%) followed close behind.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2654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824882"/>
            <a:ext cx="4953000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National Average: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The average state unemployment rate rose sharply from 3.58% in Feb to 4.23% in March 2020.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State-Level Early Pandemic Spikes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BDBEB8-D5E1-B0A8-BAF9-9726DE4D9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899" y="1785937"/>
            <a:ext cx="5392601" cy="41898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5937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4000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938337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January Peak (~7.5%):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Unemployment historically peaks in January and February due to post-holiday retail layoffs and seasonal winter slowdowns.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8327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81610"/>
            <a:ext cx="4953000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Late Year Lows (~6.8%):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Rates steadily decline into Autumn and December as seasonal hiring accelerates.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5756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573958"/>
            <a:ext cx="4953000" cy="7527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Baseline Isolation: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Isolating 2010-2019 ensured unusual 2020 economic shocks did not skew normal seasonal baseline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Pre-Pandemic Seasonality (2010-2019)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2ACFA9-167C-B001-0AD1-80E3DAA79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85937"/>
            <a:ext cx="5361216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55664"/>
            <a:ext cx="11049000" cy="650974"/>
          </a:xfrm>
          <a:prstGeom prst="roundRect">
            <a:avLst>
              <a:gd name="adj" fmla="val 14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646164"/>
            <a:ext cx="10248900" cy="269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Education is Protective: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Higher formal education levels consistently correlated with significantly lower baseline unemployment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259038"/>
            <a:ext cx="11049000" cy="650974"/>
          </a:xfrm>
          <a:prstGeom prst="roundRect">
            <a:avLst>
              <a:gd name="adj" fmla="val 14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3449538"/>
            <a:ext cx="10248900" cy="269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Early Shock Warning: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Tourism and service-dependent states (like Nevada) acted as early warning indicators for the 2020 recession.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4062412"/>
            <a:ext cx="11049000" cy="901898"/>
          </a:xfrm>
          <a:prstGeom prst="roundRect">
            <a:avLst>
              <a:gd name="adj" fmla="val 105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252912"/>
            <a:ext cx="10248900" cy="52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Data Awareness: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Demonstrates the critical importance of handling real-world data limitations, such as missing demographic reporting during economic crisis periods.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09711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95478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669976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47335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276725"/>
            <a:ext cx="1714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Takeaways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680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wasi ahmed</cp:lastModifiedBy>
  <cp:revision>2</cp:revision>
  <dcterms:created xsi:type="dcterms:W3CDTF">2013-01-27T09:14:16Z</dcterms:created>
  <dcterms:modified xsi:type="dcterms:W3CDTF">2026-09-10T00:37:01Z</dcterms:modified>
  <cp:category/>
</cp:coreProperties>
</file>